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dat" ContentType="text/plai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334683ecf8b94f90" Type="http://schemas.microsoft.com/office/2006/relationships/txt" Target="udata/data.da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58" r:id="rId3"/>
    <p:sldId id="261" r:id="rId4"/>
    <p:sldId id="264" r:id="rId5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2CC85-3D33-4C6E-B223-45C45D20B551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7DEA-95CE-451F-ADEC-026A1C932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22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F3F95-6473-9B48-A2D5-714B755C4E9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9571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只强调库存结构 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口述的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时候根据不同部门的重点  继续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下探 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影响库存结构健康的指标，长库龄滞慢销不动销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占比等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F3F95-6473-9B48-A2D5-714B755C4E9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4786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F3F95-6473-9B48-A2D5-714B755C4E9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74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F3F95-6473-9B48-A2D5-714B755C4E9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910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F3F95-6473-9B48-A2D5-714B755C4E9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297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031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79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4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913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39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2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38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82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11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95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696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 userDrawn="1"/>
        </p:nvSpPr>
        <p:spPr bwMode="auto">
          <a:xfrm>
            <a:off x="4899946" y="6370787"/>
            <a:ext cx="2412457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5615" tIns="62807" rIns="125615" bIns="62807"/>
          <a:lstStyle/>
          <a:p>
            <a:pPr algn="ctr" defTabSz="1256059">
              <a:defRPr/>
            </a:pPr>
            <a:r>
              <a:rPr lang="en-US" sz="1200" b="1" dirty="0">
                <a:solidFill>
                  <a:prstClr val="white">
                    <a:lumMod val="75000"/>
                  </a:prstClr>
                </a:solidFill>
                <a:latin typeface="微软雅黑"/>
              </a:rPr>
              <a:t>PAGE </a:t>
            </a:r>
            <a:fld id="{D4A5244C-9AC4-455A-B869-D308B68D8C94}" type="slidenum">
              <a:rPr lang="en-US" sz="1200" b="1">
                <a:solidFill>
                  <a:prstClr val="white">
                    <a:lumMod val="75000"/>
                  </a:prstClr>
                </a:solidFill>
                <a:latin typeface="微软雅黑"/>
              </a:rPr>
              <a:pPr algn="ctr" defTabSz="1256059">
                <a:defRPr/>
              </a:pPr>
              <a:t>‹#›</a:t>
            </a:fld>
            <a:endParaRPr lang="en-US" sz="1200" b="1" dirty="0">
              <a:solidFill>
                <a:prstClr val="white">
                  <a:lumMod val="75000"/>
                </a:prstClr>
              </a:solidFill>
              <a:latin typeface="微软雅黑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36311"/>
            <a:ext cx="10515600" cy="576000"/>
          </a:xfrm>
          <a:prstGeom prst="rect">
            <a:avLst/>
          </a:prstGeom>
        </p:spPr>
        <p:txBody>
          <a:bodyPr lIns="91418" tIns="45709" rIns="91418" bIns="45709" anchor="ctr" anchorCtr="0"/>
          <a:lstStyle>
            <a:lvl1pPr algn="l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6"/>
          </a:xfrm>
          <a:prstGeom prst="rect">
            <a:avLst/>
          </a:prstGeom>
        </p:spPr>
        <p:txBody>
          <a:bodyPr lIns="91418" tIns="45709" rIns="91418" bIns="45709"/>
          <a:lstStyle>
            <a:lvl1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2133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67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1" y="234903"/>
            <a:ext cx="354563" cy="677408"/>
            <a:chOff x="0" y="-78772"/>
            <a:chExt cx="602082" cy="1150304"/>
          </a:xfrm>
          <a:solidFill>
            <a:srgbClr val="C30211"/>
          </a:solidFill>
        </p:grpSpPr>
        <p:sp>
          <p:nvSpPr>
            <p:cNvPr id="10" name="任意多边形 9"/>
            <p:cNvSpPr/>
            <p:nvPr/>
          </p:nvSpPr>
          <p:spPr>
            <a:xfrm>
              <a:off x="0" y="256213"/>
              <a:ext cx="251412" cy="480334"/>
            </a:xfrm>
            <a:custGeom>
              <a:avLst/>
              <a:gdLst>
                <a:gd name="connsiteX0" fmla="*/ 0 w 251412"/>
                <a:gd name="connsiteY0" fmla="*/ 0 h 480334"/>
                <a:gd name="connsiteX1" fmla="*/ 251412 w 251412"/>
                <a:gd name="connsiteY1" fmla="*/ 240167 h 480334"/>
                <a:gd name="connsiteX2" fmla="*/ 0 w 251412"/>
                <a:gd name="connsiteY2" fmla="*/ 480334 h 480334"/>
                <a:gd name="connsiteX3" fmla="*/ 0 w 251412"/>
                <a:gd name="connsiteY3" fmla="*/ 0 h 48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12" h="480334">
                  <a:moveTo>
                    <a:pt x="0" y="0"/>
                  </a:moveTo>
                  <a:lnTo>
                    <a:pt x="251412" y="240167"/>
                  </a:lnTo>
                  <a:lnTo>
                    <a:pt x="0" y="48033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8"/>
              <a:endParaRPr lang="zh-CN" altLang="en-US" sz="1867">
                <a:solidFill>
                  <a:prstClr val="white"/>
                </a:solidFill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-78772"/>
              <a:ext cx="602082" cy="1150304"/>
            </a:xfrm>
            <a:custGeom>
              <a:avLst/>
              <a:gdLst>
                <a:gd name="connsiteX0" fmla="*/ 0 w 441911"/>
                <a:gd name="connsiteY0" fmla="*/ 0 h 844290"/>
                <a:gd name="connsiteX1" fmla="*/ 441911 w 441911"/>
                <a:gd name="connsiteY1" fmla="*/ 422145 h 844290"/>
                <a:gd name="connsiteX2" fmla="*/ 0 w 441911"/>
                <a:gd name="connsiteY2" fmla="*/ 844290 h 844290"/>
                <a:gd name="connsiteX3" fmla="*/ 0 w 441911"/>
                <a:gd name="connsiteY3" fmla="*/ 662312 h 844290"/>
                <a:gd name="connsiteX4" fmla="*/ 251412 w 441911"/>
                <a:gd name="connsiteY4" fmla="*/ 422145 h 844290"/>
                <a:gd name="connsiteX5" fmla="*/ 0 w 441911"/>
                <a:gd name="connsiteY5" fmla="*/ 181978 h 844290"/>
                <a:gd name="connsiteX6" fmla="*/ 0 w 441911"/>
                <a:gd name="connsiteY6" fmla="*/ 0 h 84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11" h="844290">
                  <a:moveTo>
                    <a:pt x="0" y="0"/>
                  </a:moveTo>
                  <a:lnTo>
                    <a:pt x="441911" y="422145"/>
                  </a:lnTo>
                  <a:lnTo>
                    <a:pt x="0" y="844290"/>
                  </a:lnTo>
                  <a:lnTo>
                    <a:pt x="0" y="662312"/>
                  </a:lnTo>
                  <a:lnTo>
                    <a:pt x="251412" y="422145"/>
                  </a:lnTo>
                  <a:lnTo>
                    <a:pt x="0" y="18197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8"/>
              <a:endParaRPr lang="zh-CN" altLang="en-US" sz="1867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793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35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577">
          <p15:clr>
            <a:srgbClr val="FBAE40"/>
          </p15:clr>
        </p15:guide>
        <p15:guide id="4" pos="5397">
          <p15:clr>
            <a:srgbClr val="FBAE40"/>
          </p15:clr>
        </p15:guide>
        <p15:guide id="5" pos="36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548A-A35E-4040-B288-E691BF1390CC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F2AE5-8894-45F2-B3E3-5EAE50F8B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92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>
            <a:spLocks/>
          </p:cNvSpPr>
          <p:nvPr/>
        </p:nvSpPr>
        <p:spPr bwMode="gray">
          <a:xfrm>
            <a:off x="462813" y="322588"/>
            <a:ext cx="10390716" cy="584753"/>
          </a:xfrm>
          <a:prstGeom prst="rect">
            <a:avLst/>
          </a:prstGeom>
        </p:spPr>
        <p:txBody>
          <a:bodyPr vert="horz" lIns="91418" tIns="45709" rIns="91418" bIns="45709" rtlCol="0" anchor="ctr" anchorCtr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200" dirty="0" smtClean="0">
                <a:solidFill>
                  <a:srgbClr val="C00000"/>
                </a:solidFill>
                <a:cs typeface="+mn-ea"/>
                <a:sym typeface="+mn-lt"/>
              </a:rPr>
              <a:t>什么是供应链</a:t>
            </a:r>
            <a:endParaRPr lang="zh-CN" altLang="en-US" sz="3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2529" y="1175123"/>
            <a:ext cx="105712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供应链是以客户需求为导向，以提高质量和效率为目标，以整合资源位手段，实现产品设计、采购、生产、销售、服务等全过程高效协同的组织形态。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-----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国务院办公厅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,2017.10.13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58" y="2375452"/>
            <a:ext cx="8256696" cy="401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0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529" y="5519529"/>
            <a:ext cx="1338471" cy="1338471"/>
          </a:xfrm>
          <a:prstGeom prst="rect">
            <a:avLst/>
          </a:prstGeom>
        </p:spPr>
      </p:pic>
      <p:sp>
        <p:nvSpPr>
          <p:cNvPr id="21" name="标题 1"/>
          <p:cNvSpPr txBox="1">
            <a:spLocks/>
          </p:cNvSpPr>
          <p:nvPr/>
        </p:nvSpPr>
        <p:spPr bwMode="gray">
          <a:xfrm>
            <a:off x="462812" y="344414"/>
            <a:ext cx="10390716" cy="535509"/>
          </a:xfrm>
          <a:prstGeom prst="rect">
            <a:avLst/>
          </a:prstGeom>
        </p:spPr>
        <p:txBody>
          <a:bodyPr vert="horz" lIns="91418" tIns="45709" rIns="91418" bIns="45709" rtlCol="0" anchor="ctr" anchorCtr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defTabSz="666750">
              <a:lnSpc>
                <a:spcPct val="90000"/>
              </a:lnSpc>
              <a:spcAft>
                <a:spcPct val="35000"/>
              </a:spcAft>
            </a:pPr>
            <a:r>
              <a:rPr lang="zh-CN" altLang="en-US" sz="3200" dirty="0">
                <a:solidFill>
                  <a:srgbClr val="C00000"/>
                </a:solidFill>
                <a:cs typeface="+mn-ea"/>
                <a:sym typeface="+mn-lt"/>
              </a:rPr>
              <a:t>京东供应链全链路运作流程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90818" y="2131736"/>
            <a:ext cx="5201784" cy="549288"/>
            <a:chOff x="229267" y="1262399"/>
            <a:chExt cx="5201784" cy="549288"/>
          </a:xfrm>
          <a:solidFill>
            <a:srgbClr val="C00000"/>
          </a:solidFill>
        </p:grpSpPr>
        <p:sp>
          <p:nvSpPr>
            <p:cNvPr id="13" name="任意多边形 12"/>
            <p:cNvSpPr/>
            <p:nvPr/>
          </p:nvSpPr>
          <p:spPr>
            <a:xfrm>
              <a:off x="229267" y="1262399"/>
              <a:ext cx="1427966" cy="527409"/>
            </a:xfrm>
            <a:custGeom>
              <a:avLst/>
              <a:gdLst>
                <a:gd name="connsiteX0" fmla="*/ 0 w 1447673"/>
                <a:gd name="connsiteY0" fmla="*/ 0 h 527409"/>
                <a:gd name="connsiteX1" fmla="*/ 1183969 w 1447673"/>
                <a:gd name="connsiteY1" fmla="*/ 0 h 527409"/>
                <a:gd name="connsiteX2" fmla="*/ 1447673 w 1447673"/>
                <a:gd name="connsiteY2" fmla="*/ 263705 h 527409"/>
                <a:gd name="connsiteX3" fmla="*/ 1183969 w 1447673"/>
                <a:gd name="connsiteY3" fmla="*/ 527409 h 527409"/>
                <a:gd name="connsiteX4" fmla="*/ 0 w 1447673"/>
                <a:gd name="connsiteY4" fmla="*/ 527409 h 527409"/>
                <a:gd name="connsiteX5" fmla="*/ 263705 w 1447673"/>
                <a:gd name="connsiteY5" fmla="*/ 263705 h 527409"/>
                <a:gd name="connsiteX6" fmla="*/ 0 w 1447673"/>
                <a:gd name="connsiteY6" fmla="*/ 0 h 527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7673" h="527409">
                  <a:moveTo>
                    <a:pt x="0" y="0"/>
                  </a:moveTo>
                  <a:lnTo>
                    <a:pt x="1183969" y="0"/>
                  </a:lnTo>
                  <a:lnTo>
                    <a:pt x="1447673" y="263705"/>
                  </a:lnTo>
                  <a:lnTo>
                    <a:pt x="1183969" y="527409"/>
                  </a:lnTo>
                  <a:lnTo>
                    <a:pt x="0" y="527409"/>
                  </a:lnTo>
                  <a:lnTo>
                    <a:pt x="263705" y="26370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3713" tIns="20003" rIns="283707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销售预测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1466828" y="1262399"/>
              <a:ext cx="1495233" cy="527409"/>
            </a:xfrm>
            <a:custGeom>
              <a:avLst/>
              <a:gdLst>
                <a:gd name="connsiteX0" fmla="*/ 0 w 1495233"/>
                <a:gd name="connsiteY0" fmla="*/ 0 h 527409"/>
                <a:gd name="connsiteX1" fmla="*/ 1231529 w 1495233"/>
                <a:gd name="connsiteY1" fmla="*/ 0 h 527409"/>
                <a:gd name="connsiteX2" fmla="*/ 1495233 w 1495233"/>
                <a:gd name="connsiteY2" fmla="*/ 263705 h 527409"/>
                <a:gd name="connsiteX3" fmla="*/ 1231529 w 1495233"/>
                <a:gd name="connsiteY3" fmla="*/ 527409 h 527409"/>
                <a:gd name="connsiteX4" fmla="*/ 0 w 1495233"/>
                <a:gd name="connsiteY4" fmla="*/ 527409 h 527409"/>
                <a:gd name="connsiteX5" fmla="*/ 263705 w 1495233"/>
                <a:gd name="connsiteY5" fmla="*/ 263705 h 527409"/>
                <a:gd name="connsiteX6" fmla="*/ 0 w 1495233"/>
                <a:gd name="connsiteY6" fmla="*/ 0 h 527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5233" h="527409">
                  <a:moveTo>
                    <a:pt x="0" y="0"/>
                  </a:moveTo>
                  <a:lnTo>
                    <a:pt x="1231529" y="0"/>
                  </a:lnTo>
                  <a:lnTo>
                    <a:pt x="1495233" y="263705"/>
                  </a:lnTo>
                  <a:lnTo>
                    <a:pt x="1231529" y="527409"/>
                  </a:lnTo>
                  <a:lnTo>
                    <a:pt x="0" y="527409"/>
                  </a:lnTo>
                  <a:lnTo>
                    <a:pt x="263705" y="26370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3713" tIns="20003" rIns="283707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需求计划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2738126" y="1262399"/>
              <a:ext cx="1423004" cy="527409"/>
            </a:xfrm>
            <a:custGeom>
              <a:avLst/>
              <a:gdLst>
                <a:gd name="connsiteX0" fmla="*/ 0 w 1318524"/>
                <a:gd name="connsiteY0" fmla="*/ 0 h 527409"/>
                <a:gd name="connsiteX1" fmla="*/ 1054820 w 1318524"/>
                <a:gd name="connsiteY1" fmla="*/ 0 h 527409"/>
                <a:gd name="connsiteX2" fmla="*/ 1318524 w 1318524"/>
                <a:gd name="connsiteY2" fmla="*/ 263705 h 527409"/>
                <a:gd name="connsiteX3" fmla="*/ 1054820 w 1318524"/>
                <a:gd name="connsiteY3" fmla="*/ 527409 h 527409"/>
                <a:gd name="connsiteX4" fmla="*/ 0 w 1318524"/>
                <a:gd name="connsiteY4" fmla="*/ 527409 h 527409"/>
                <a:gd name="connsiteX5" fmla="*/ 263705 w 1318524"/>
                <a:gd name="connsiteY5" fmla="*/ 263705 h 527409"/>
                <a:gd name="connsiteX6" fmla="*/ 0 w 1318524"/>
                <a:gd name="connsiteY6" fmla="*/ 0 h 527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8524" h="527409">
                  <a:moveTo>
                    <a:pt x="0" y="0"/>
                  </a:moveTo>
                  <a:lnTo>
                    <a:pt x="1054820" y="0"/>
                  </a:lnTo>
                  <a:lnTo>
                    <a:pt x="1318524" y="263705"/>
                  </a:lnTo>
                  <a:lnTo>
                    <a:pt x="1054820" y="527409"/>
                  </a:lnTo>
                  <a:lnTo>
                    <a:pt x="0" y="527409"/>
                  </a:lnTo>
                  <a:lnTo>
                    <a:pt x="263705" y="26370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3713" tIns="20003" rIns="283707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下单生产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3943016" y="1262399"/>
              <a:ext cx="1488035" cy="549288"/>
            </a:xfrm>
            <a:custGeom>
              <a:avLst/>
              <a:gdLst>
                <a:gd name="connsiteX0" fmla="*/ 0 w 1427913"/>
                <a:gd name="connsiteY0" fmla="*/ 0 h 571165"/>
                <a:gd name="connsiteX1" fmla="*/ 1142331 w 1427913"/>
                <a:gd name="connsiteY1" fmla="*/ 0 h 571165"/>
                <a:gd name="connsiteX2" fmla="*/ 1427913 w 1427913"/>
                <a:gd name="connsiteY2" fmla="*/ 285583 h 571165"/>
                <a:gd name="connsiteX3" fmla="*/ 1142331 w 1427913"/>
                <a:gd name="connsiteY3" fmla="*/ 571165 h 571165"/>
                <a:gd name="connsiteX4" fmla="*/ 0 w 1427913"/>
                <a:gd name="connsiteY4" fmla="*/ 571165 h 571165"/>
                <a:gd name="connsiteX5" fmla="*/ 285583 w 1427913"/>
                <a:gd name="connsiteY5" fmla="*/ 285583 h 571165"/>
                <a:gd name="connsiteX6" fmla="*/ 0 w 1427913"/>
                <a:gd name="connsiteY6" fmla="*/ 0 h 57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913" h="571165">
                  <a:moveTo>
                    <a:pt x="0" y="0"/>
                  </a:moveTo>
                  <a:lnTo>
                    <a:pt x="1142331" y="0"/>
                  </a:lnTo>
                  <a:lnTo>
                    <a:pt x="1427913" y="285583"/>
                  </a:lnTo>
                  <a:lnTo>
                    <a:pt x="1142331" y="571165"/>
                  </a:lnTo>
                  <a:lnTo>
                    <a:pt x="0" y="571165"/>
                  </a:lnTo>
                  <a:lnTo>
                    <a:pt x="285583" y="2855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91" tIns="21336" rIns="306918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履约入库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372196" y="2111628"/>
            <a:ext cx="2752206" cy="580334"/>
            <a:chOff x="5270766" y="1240217"/>
            <a:chExt cx="2752206" cy="580334"/>
          </a:xfrm>
          <a:solidFill>
            <a:schemeClr val="accent1">
              <a:lumMod val="75000"/>
            </a:schemeClr>
          </a:solidFill>
        </p:grpSpPr>
        <p:sp>
          <p:nvSpPr>
            <p:cNvPr id="7" name="任意多边形 6"/>
            <p:cNvSpPr/>
            <p:nvPr/>
          </p:nvSpPr>
          <p:spPr>
            <a:xfrm>
              <a:off x="5270766" y="1240217"/>
              <a:ext cx="1516483" cy="571165"/>
            </a:xfrm>
            <a:custGeom>
              <a:avLst/>
              <a:gdLst>
                <a:gd name="connsiteX0" fmla="*/ 0 w 1427913"/>
                <a:gd name="connsiteY0" fmla="*/ 0 h 571165"/>
                <a:gd name="connsiteX1" fmla="*/ 1142331 w 1427913"/>
                <a:gd name="connsiteY1" fmla="*/ 0 h 571165"/>
                <a:gd name="connsiteX2" fmla="*/ 1427913 w 1427913"/>
                <a:gd name="connsiteY2" fmla="*/ 285583 h 571165"/>
                <a:gd name="connsiteX3" fmla="*/ 1142331 w 1427913"/>
                <a:gd name="connsiteY3" fmla="*/ 571165 h 571165"/>
                <a:gd name="connsiteX4" fmla="*/ 0 w 1427913"/>
                <a:gd name="connsiteY4" fmla="*/ 571165 h 571165"/>
                <a:gd name="connsiteX5" fmla="*/ 285583 w 1427913"/>
                <a:gd name="connsiteY5" fmla="*/ 285583 h 571165"/>
                <a:gd name="connsiteX6" fmla="*/ 0 w 1427913"/>
                <a:gd name="connsiteY6" fmla="*/ 0 h 57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913" h="571165">
                  <a:moveTo>
                    <a:pt x="0" y="0"/>
                  </a:moveTo>
                  <a:lnTo>
                    <a:pt x="1142331" y="0"/>
                  </a:lnTo>
                  <a:lnTo>
                    <a:pt x="1427913" y="285583"/>
                  </a:lnTo>
                  <a:lnTo>
                    <a:pt x="1142331" y="571165"/>
                  </a:lnTo>
                  <a:lnTo>
                    <a:pt x="0" y="571165"/>
                  </a:lnTo>
                  <a:lnTo>
                    <a:pt x="285583" y="2855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91" tIns="21336" rIns="306918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库存管理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6549172" y="1249386"/>
              <a:ext cx="1473800" cy="571165"/>
            </a:xfrm>
            <a:custGeom>
              <a:avLst/>
              <a:gdLst>
                <a:gd name="connsiteX0" fmla="*/ 0 w 1427913"/>
                <a:gd name="connsiteY0" fmla="*/ 0 h 571165"/>
                <a:gd name="connsiteX1" fmla="*/ 1142331 w 1427913"/>
                <a:gd name="connsiteY1" fmla="*/ 0 h 571165"/>
                <a:gd name="connsiteX2" fmla="*/ 1427913 w 1427913"/>
                <a:gd name="connsiteY2" fmla="*/ 285583 h 571165"/>
                <a:gd name="connsiteX3" fmla="*/ 1142331 w 1427913"/>
                <a:gd name="connsiteY3" fmla="*/ 571165 h 571165"/>
                <a:gd name="connsiteX4" fmla="*/ 0 w 1427913"/>
                <a:gd name="connsiteY4" fmla="*/ 571165 h 571165"/>
                <a:gd name="connsiteX5" fmla="*/ 285583 w 1427913"/>
                <a:gd name="connsiteY5" fmla="*/ 285583 h 571165"/>
                <a:gd name="connsiteX6" fmla="*/ 0 w 1427913"/>
                <a:gd name="connsiteY6" fmla="*/ 0 h 57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913" h="571165">
                  <a:moveTo>
                    <a:pt x="0" y="0"/>
                  </a:moveTo>
                  <a:lnTo>
                    <a:pt x="1142331" y="0"/>
                  </a:lnTo>
                  <a:lnTo>
                    <a:pt x="1427913" y="285583"/>
                  </a:lnTo>
                  <a:lnTo>
                    <a:pt x="1142331" y="571165"/>
                  </a:lnTo>
                  <a:lnTo>
                    <a:pt x="0" y="571165"/>
                  </a:lnTo>
                  <a:lnTo>
                    <a:pt x="285583" y="2855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91" tIns="21336" rIns="306918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产品</a:t>
              </a: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销售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892850" y="2111628"/>
            <a:ext cx="4038738" cy="580334"/>
            <a:chOff x="7787804" y="1240217"/>
            <a:chExt cx="4337686" cy="580334"/>
          </a:xfrm>
          <a:solidFill>
            <a:srgbClr val="00B050"/>
          </a:solidFill>
        </p:grpSpPr>
        <p:sp>
          <p:nvSpPr>
            <p:cNvPr id="18" name="任意多边形 17"/>
            <p:cNvSpPr/>
            <p:nvPr/>
          </p:nvSpPr>
          <p:spPr>
            <a:xfrm>
              <a:off x="7787804" y="1240217"/>
              <a:ext cx="1621727" cy="571165"/>
            </a:xfrm>
            <a:custGeom>
              <a:avLst/>
              <a:gdLst>
                <a:gd name="connsiteX0" fmla="*/ 0 w 1427913"/>
                <a:gd name="connsiteY0" fmla="*/ 0 h 571165"/>
                <a:gd name="connsiteX1" fmla="*/ 1142331 w 1427913"/>
                <a:gd name="connsiteY1" fmla="*/ 0 h 571165"/>
                <a:gd name="connsiteX2" fmla="*/ 1427913 w 1427913"/>
                <a:gd name="connsiteY2" fmla="*/ 285583 h 571165"/>
                <a:gd name="connsiteX3" fmla="*/ 1142331 w 1427913"/>
                <a:gd name="connsiteY3" fmla="*/ 571165 h 571165"/>
                <a:gd name="connsiteX4" fmla="*/ 0 w 1427913"/>
                <a:gd name="connsiteY4" fmla="*/ 571165 h 571165"/>
                <a:gd name="connsiteX5" fmla="*/ 285583 w 1427913"/>
                <a:gd name="connsiteY5" fmla="*/ 285583 h 571165"/>
                <a:gd name="connsiteX6" fmla="*/ 0 w 1427913"/>
                <a:gd name="connsiteY6" fmla="*/ 0 h 57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913" h="571165">
                  <a:moveTo>
                    <a:pt x="0" y="0"/>
                  </a:moveTo>
                  <a:lnTo>
                    <a:pt x="1142331" y="0"/>
                  </a:lnTo>
                  <a:lnTo>
                    <a:pt x="1427913" y="285583"/>
                  </a:lnTo>
                  <a:lnTo>
                    <a:pt x="1142331" y="571165"/>
                  </a:lnTo>
                  <a:lnTo>
                    <a:pt x="0" y="571165"/>
                  </a:lnTo>
                  <a:lnTo>
                    <a:pt x="285583" y="2855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91" tIns="21336" rIns="306918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出库配送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9172809" y="1249386"/>
              <a:ext cx="1600449" cy="571165"/>
            </a:xfrm>
            <a:custGeom>
              <a:avLst/>
              <a:gdLst>
                <a:gd name="connsiteX0" fmla="*/ 0 w 1427913"/>
                <a:gd name="connsiteY0" fmla="*/ 0 h 571165"/>
                <a:gd name="connsiteX1" fmla="*/ 1142331 w 1427913"/>
                <a:gd name="connsiteY1" fmla="*/ 0 h 571165"/>
                <a:gd name="connsiteX2" fmla="*/ 1427913 w 1427913"/>
                <a:gd name="connsiteY2" fmla="*/ 285583 h 571165"/>
                <a:gd name="connsiteX3" fmla="*/ 1142331 w 1427913"/>
                <a:gd name="connsiteY3" fmla="*/ 571165 h 571165"/>
                <a:gd name="connsiteX4" fmla="*/ 0 w 1427913"/>
                <a:gd name="connsiteY4" fmla="*/ 571165 h 571165"/>
                <a:gd name="connsiteX5" fmla="*/ 285583 w 1427913"/>
                <a:gd name="connsiteY5" fmla="*/ 285583 h 571165"/>
                <a:gd name="connsiteX6" fmla="*/ 0 w 1427913"/>
                <a:gd name="connsiteY6" fmla="*/ 0 h 57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913" h="571165">
                  <a:moveTo>
                    <a:pt x="0" y="0"/>
                  </a:moveTo>
                  <a:lnTo>
                    <a:pt x="1142331" y="0"/>
                  </a:lnTo>
                  <a:lnTo>
                    <a:pt x="1427913" y="285583"/>
                  </a:lnTo>
                  <a:lnTo>
                    <a:pt x="1142331" y="571165"/>
                  </a:lnTo>
                  <a:lnTo>
                    <a:pt x="0" y="571165"/>
                  </a:lnTo>
                  <a:lnTo>
                    <a:pt x="285583" y="2855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91" tIns="21336" rIns="306918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售后服务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0545844" y="1249385"/>
              <a:ext cx="1579646" cy="571165"/>
            </a:xfrm>
            <a:custGeom>
              <a:avLst/>
              <a:gdLst>
                <a:gd name="connsiteX0" fmla="*/ 0 w 1427913"/>
                <a:gd name="connsiteY0" fmla="*/ 0 h 571165"/>
                <a:gd name="connsiteX1" fmla="*/ 1142331 w 1427913"/>
                <a:gd name="connsiteY1" fmla="*/ 0 h 571165"/>
                <a:gd name="connsiteX2" fmla="*/ 1427913 w 1427913"/>
                <a:gd name="connsiteY2" fmla="*/ 285583 h 571165"/>
                <a:gd name="connsiteX3" fmla="*/ 1142331 w 1427913"/>
                <a:gd name="connsiteY3" fmla="*/ 571165 h 571165"/>
                <a:gd name="connsiteX4" fmla="*/ 0 w 1427913"/>
                <a:gd name="connsiteY4" fmla="*/ 571165 h 571165"/>
                <a:gd name="connsiteX5" fmla="*/ 285583 w 1427913"/>
                <a:gd name="connsiteY5" fmla="*/ 285583 h 571165"/>
                <a:gd name="connsiteX6" fmla="*/ 0 w 1427913"/>
                <a:gd name="connsiteY6" fmla="*/ 0 h 57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913" h="571165">
                  <a:moveTo>
                    <a:pt x="0" y="0"/>
                  </a:moveTo>
                  <a:lnTo>
                    <a:pt x="1142331" y="0"/>
                  </a:lnTo>
                  <a:lnTo>
                    <a:pt x="1427913" y="285583"/>
                  </a:lnTo>
                  <a:lnTo>
                    <a:pt x="1142331" y="571165"/>
                  </a:lnTo>
                  <a:lnTo>
                    <a:pt x="0" y="571165"/>
                  </a:lnTo>
                  <a:lnTo>
                    <a:pt x="285583" y="285583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9591" tIns="21336" rIns="306918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逆向物流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32337" y="5354192"/>
            <a:ext cx="10990425" cy="571165"/>
            <a:chOff x="2571415" y="122630"/>
            <a:chExt cx="1427913" cy="571165"/>
          </a:xfrm>
          <a:solidFill>
            <a:srgbClr val="C00000"/>
          </a:solidFill>
        </p:grpSpPr>
        <p:sp>
          <p:nvSpPr>
            <p:cNvPr id="107" name="燕尾形 106"/>
            <p:cNvSpPr/>
            <p:nvPr/>
          </p:nvSpPr>
          <p:spPr>
            <a:xfrm>
              <a:off x="2571415" y="122630"/>
              <a:ext cx="1427913" cy="571165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8" name="燕尾形 4"/>
            <p:cNvSpPr txBox="1"/>
            <p:nvPr/>
          </p:nvSpPr>
          <p:spPr>
            <a:xfrm>
              <a:off x="2850521" y="154710"/>
              <a:ext cx="856748" cy="53908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京东供应链全链路运作流程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14" name="圆角矩形 113"/>
          <p:cNvSpPr/>
          <p:nvPr/>
        </p:nvSpPr>
        <p:spPr bwMode="gray">
          <a:xfrm>
            <a:off x="5467751" y="3364780"/>
            <a:ext cx="2560348" cy="1819778"/>
          </a:xfrm>
          <a:prstGeom prst="round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现货率（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PV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、实库）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周转（数量、财务）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库存结构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仓配成本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6" name="圆角矩形 115"/>
          <p:cNvSpPr/>
          <p:nvPr/>
        </p:nvSpPr>
        <p:spPr bwMode="gray">
          <a:xfrm>
            <a:off x="8167456" y="3357765"/>
            <a:ext cx="3496827" cy="1826793"/>
          </a:xfrm>
          <a:prstGeom prst="round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暂停订单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折扣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出库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率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、配送准时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备件残损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NPS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净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满意度）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圆角矩形 21"/>
          <p:cNvSpPr/>
          <p:nvPr/>
        </p:nvSpPr>
        <p:spPr bwMode="gray">
          <a:xfrm>
            <a:off x="462812" y="3364779"/>
            <a:ext cx="4852252" cy="1819779"/>
          </a:xfrm>
          <a:prstGeom prst="round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销售偏差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订单满足率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送货履约率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VLT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（采购到货时长）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600578" y="1535097"/>
            <a:ext cx="2273915" cy="511318"/>
            <a:chOff x="719973" y="2368523"/>
            <a:chExt cx="1779043" cy="562263"/>
          </a:xfrm>
          <a:solidFill>
            <a:schemeClr val="bg1">
              <a:lumMod val="85000"/>
            </a:schemeClr>
          </a:solidFill>
        </p:grpSpPr>
        <p:sp>
          <p:nvSpPr>
            <p:cNvPr id="39" name="单圆角矩形 38"/>
            <p:cNvSpPr/>
            <p:nvPr/>
          </p:nvSpPr>
          <p:spPr bwMode="gray">
            <a:xfrm>
              <a:off x="719973" y="2368523"/>
              <a:ext cx="1779043" cy="562263"/>
            </a:xfrm>
            <a:prstGeom prst="snipRound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75405" y="2449094"/>
              <a:ext cx="1268188" cy="388503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库存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及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销售管理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8028099" y="1515918"/>
            <a:ext cx="3577620" cy="511318"/>
            <a:chOff x="719972" y="2368523"/>
            <a:chExt cx="2467108" cy="562263"/>
          </a:xfrm>
          <a:solidFill>
            <a:schemeClr val="bg1">
              <a:lumMod val="85000"/>
            </a:schemeClr>
          </a:solidFill>
        </p:grpSpPr>
        <p:sp>
          <p:nvSpPr>
            <p:cNvPr id="49" name="单圆角矩形 48"/>
            <p:cNvSpPr/>
            <p:nvPr/>
          </p:nvSpPr>
          <p:spPr bwMode="gray">
            <a:xfrm>
              <a:off x="719972" y="2368523"/>
              <a:ext cx="2467108" cy="562263"/>
            </a:xfrm>
            <a:prstGeom prst="snipRound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793373" y="2453273"/>
              <a:ext cx="2233561" cy="38850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履约交付、客户服务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52" name="Rectangle 23"/>
          <p:cNvSpPr/>
          <p:nvPr/>
        </p:nvSpPr>
        <p:spPr>
          <a:xfrm>
            <a:off x="7122411" y="6324482"/>
            <a:ext cx="3066441" cy="41819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defTabSz="12191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成本  效率  体验</a:t>
            </a:r>
            <a:endParaRPr 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493782" y="1535097"/>
            <a:ext cx="2591845" cy="511318"/>
            <a:chOff x="719973" y="2368523"/>
            <a:chExt cx="1779043" cy="562263"/>
          </a:xfrm>
          <a:solidFill>
            <a:schemeClr val="bg1">
              <a:lumMod val="85000"/>
            </a:schemeClr>
          </a:solidFill>
        </p:grpSpPr>
        <p:sp>
          <p:nvSpPr>
            <p:cNvPr id="54" name="单圆角矩形 53"/>
            <p:cNvSpPr/>
            <p:nvPr/>
          </p:nvSpPr>
          <p:spPr bwMode="gray">
            <a:xfrm>
              <a:off x="719973" y="2368523"/>
              <a:ext cx="1779043" cy="562263"/>
            </a:xfrm>
            <a:prstGeom prst="snipRound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053186" y="2449094"/>
              <a:ext cx="1112625" cy="388503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进销存计划形成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217479" y="1520476"/>
            <a:ext cx="2182748" cy="511318"/>
            <a:chOff x="719973" y="2368523"/>
            <a:chExt cx="1779043" cy="562263"/>
          </a:xfrm>
          <a:solidFill>
            <a:schemeClr val="bg1">
              <a:lumMod val="85000"/>
            </a:schemeClr>
          </a:solidFill>
        </p:grpSpPr>
        <p:sp>
          <p:nvSpPr>
            <p:cNvPr id="57" name="单圆角矩形 56"/>
            <p:cNvSpPr/>
            <p:nvPr/>
          </p:nvSpPr>
          <p:spPr bwMode="gray">
            <a:xfrm>
              <a:off x="719973" y="2368523"/>
              <a:ext cx="1779043" cy="562263"/>
            </a:xfrm>
            <a:prstGeom prst="snipRound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865302" y="2449094"/>
              <a:ext cx="1488391" cy="388503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供应商生产、履约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2" name="左大括号 61"/>
          <p:cNvSpPr/>
          <p:nvPr/>
        </p:nvSpPr>
        <p:spPr>
          <a:xfrm rot="5400000" flipH="1" flipV="1">
            <a:off x="6692806" y="1702655"/>
            <a:ext cx="274562" cy="2724672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左大括号 62"/>
          <p:cNvSpPr/>
          <p:nvPr/>
        </p:nvSpPr>
        <p:spPr>
          <a:xfrm rot="5400000" flipH="1" flipV="1">
            <a:off x="2800817" y="680898"/>
            <a:ext cx="274562" cy="4753931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左大括号 63"/>
          <p:cNvSpPr/>
          <p:nvPr/>
        </p:nvSpPr>
        <p:spPr>
          <a:xfrm rot="5400000" flipH="1" flipV="1">
            <a:off x="9894503" y="1457445"/>
            <a:ext cx="274562" cy="326499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306351" y="2659145"/>
            <a:ext cx="1406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采购入库前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143348" y="2688455"/>
            <a:ext cx="1591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采购入库后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465437" y="2708991"/>
            <a:ext cx="1157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销售出库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93783" y="899726"/>
            <a:ext cx="3705310" cy="571165"/>
            <a:chOff x="2571415" y="122630"/>
            <a:chExt cx="1427913" cy="571165"/>
          </a:xfrm>
          <a:solidFill>
            <a:srgbClr val="C00000"/>
          </a:solidFill>
        </p:grpSpPr>
        <p:sp>
          <p:nvSpPr>
            <p:cNvPr id="43" name="燕尾形 42"/>
            <p:cNvSpPr/>
            <p:nvPr/>
          </p:nvSpPr>
          <p:spPr>
            <a:xfrm>
              <a:off x="2571415" y="122630"/>
              <a:ext cx="1427913" cy="571165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燕尾形 4"/>
            <p:cNvSpPr txBox="1"/>
            <p:nvPr/>
          </p:nvSpPr>
          <p:spPr>
            <a:xfrm>
              <a:off x="2856998" y="156605"/>
              <a:ext cx="856748" cy="53719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成本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059412" y="891825"/>
            <a:ext cx="3815081" cy="571165"/>
            <a:chOff x="2571415" y="122630"/>
            <a:chExt cx="1427913" cy="571165"/>
          </a:xfrm>
          <a:solidFill>
            <a:srgbClr val="C00000"/>
          </a:solidFill>
        </p:grpSpPr>
        <p:sp>
          <p:nvSpPr>
            <p:cNvPr id="46" name="燕尾形 45"/>
            <p:cNvSpPr/>
            <p:nvPr/>
          </p:nvSpPr>
          <p:spPr>
            <a:xfrm>
              <a:off x="2571415" y="122630"/>
              <a:ext cx="1427913" cy="571165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燕尾形 4"/>
            <p:cNvSpPr txBox="1"/>
            <p:nvPr/>
          </p:nvSpPr>
          <p:spPr>
            <a:xfrm>
              <a:off x="2856998" y="156605"/>
              <a:ext cx="856748" cy="53719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效率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734814" y="874838"/>
            <a:ext cx="3787948" cy="571165"/>
            <a:chOff x="2571415" y="122630"/>
            <a:chExt cx="1427913" cy="571165"/>
          </a:xfrm>
          <a:solidFill>
            <a:srgbClr val="C00000"/>
          </a:solidFill>
        </p:grpSpPr>
        <p:sp>
          <p:nvSpPr>
            <p:cNvPr id="60" name="燕尾形 59"/>
            <p:cNvSpPr/>
            <p:nvPr/>
          </p:nvSpPr>
          <p:spPr>
            <a:xfrm>
              <a:off x="2571415" y="122630"/>
              <a:ext cx="1427913" cy="571165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燕尾形 4"/>
            <p:cNvSpPr txBox="1"/>
            <p:nvPr/>
          </p:nvSpPr>
          <p:spPr>
            <a:xfrm>
              <a:off x="2856998" y="156605"/>
              <a:ext cx="856748" cy="53719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008" tIns="20003" rIns="20003" bIns="20003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1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体验</a:t>
              </a:r>
              <a:endParaRPr lang="zh-CN" altLang="en-US" sz="1600" b="1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934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529" y="5519529"/>
            <a:ext cx="1338471" cy="1338471"/>
          </a:xfrm>
          <a:prstGeom prst="rect">
            <a:avLst/>
          </a:prstGeom>
        </p:spPr>
      </p:pic>
      <p:sp>
        <p:nvSpPr>
          <p:cNvPr id="21" name="标题 1"/>
          <p:cNvSpPr txBox="1">
            <a:spLocks/>
          </p:cNvSpPr>
          <p:nvPr/>
        </p:nvSpPr>
        <p:spPr bwMode="gray">
          <a:xfrm>
            <a:off x="462812" y="344414"/>
            <a:ext cx="10390716" cy="535509"/>
          </a:xfrm>
          <a:prstGeom prst="rect">
            <a:avLst/>
          </a:prstGeom>
        </p:spPr>
        <p:txBody>
          <a:bodyPr vert="horz" lIns="91418" tIns="45709" rIns="91418" bIns="45709" rtlCol="0" anchor="ctr" anchorCtr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defTabSz="666750">
              <a:lnSpc>
                <a:spcPct val="90000"/>
              </a:lnSpc>
              <a:spcAft>
                <a:spcPct val="35000"/>
              </a:spcAft>
            </a:pPr>
            <a:r>
              <a:rPr lang="zh-CN" altLang="en-US" sz="3200" dirty="0" smtClean="0">
                <a:solidFill>
                  <a:srgbClr val="C00000"/>
                </a:solidFill>
                <a:cs typeface="+mn-ea"/>
                <a:sym typeface="+mn-lt"/>
              </a:rPr>
              <a:t>练习</a:t>
            </a:r>
            <a:r>
              <a:rPr lang="en-US" altLang="zh-CN" sz="3200" dirty="0" smtClean="0">
                <a:solidFill>
                  <a:srgbClr val="C00000"/>
                </a:solidFill>
                <a:cs typeface="+mn-ea"/>
                <a:sym typeface="+mn-lt"/>
              </a:rPr>
              <a:t>1</a:t>
            </a:r>
            <a:endParaRPr lang="zh-CN" altLang="en-US" sz="3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29" name="矩形: 圆角 2">
            <a:extLst>
              <a:ext uri="{FF2B5EF4-FFF2-40B4-BE49-F238E27FC236}">
                <a16:creationId xmlns:a16="http://schemas.microsoft.com/office/drawing/2014/main" id="{728CF5B8-57BB-4CB0-8F09-17B9AF6FE70C}"/>
              </a:ext>
            </a:extLst>
          </p:cNvPr>
          <p:cNvSpPr/>
          <p:nvPr/>
        </p:nvSpPr>
        <p:spPr>
          <a:xfrm>
            <a:off x="2020296" y="1478280"/>
            <a:ext cx="2316480" cy="66446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供应链动作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3">
            <a:extLst>
              <a:ext uri="{FF2B5EF4-FFF2-40B4-BE49-F238E27FC236}">
                <a16:creationId xmlns:a16="http://schemas.microsoft.com/office/drawing/2014/main" id="{38D58A04-C1B3-4005-89E8-BBB865F25819}"/>
              </a:ext>
            </a:extLst>
          </p:cNvPr>
          <p:cNvSpPr/>
          <p:nvPr/>
        </p:nvSpPr>
        <p:spPr>
          <a:xfrm>
            <a:off x="7855224" y="1478280"/>
            <a:ext cx="2316480" cy="66446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所属模块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4C2C1C7E-4B72-48B5-8FF0-84443EC44D24}"/>
              </a:ext>
            </a:extLst>
          </p:cNvPr>
          <p:cNvSpPr txBox="1"/>
          <p:nvPr/>
        </p:nvSpPr>
        <p:spPr>
          <a:xfrm>
            <a:off x="1411221" y="4484035"/>
            <a:ext cx="4224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厂家按照京东采购单需求，进行物料准备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0AB9DB3A-F22A-4A67-BD3A-2B7820F31AC9}"/>
              </a:ext>
            </a:extLst>
          </p:cNvPr>
          <p:cNvSpPr txBox="1"/>
          <p:nvPr/>
        </p:nvSpPr>
        <p:spPr>
          <a:xfrm>
            <a:off x="1411221" y="2620990"/>
            <a:ext cx="4540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用户下单后需求周末物流上门配送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2EB32A0E-E67E-4159-B9E9-8FBA19ECA1FA}"/>
              </a:ext>
            </a:extLst>
          </p:cNvPr>
          <p:cNvSpPr txBox="1"/>
          <p:nvPr/>
        </p:nvSpPr>
        <p:spPr>
          <a:xfrm>
            <a:off x="1411221" y="3094730"/>
            <a:ext cx="3813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采销结合历史销售，对次月任务分解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1324F5B2-5EC1-4167-872A-FA4534786E04}"/>
              </a:ext>
            </a:extLst>
          </p:cNvPr>
          <p:cNvSpPr txBox="1"/>
          <p:nvPr/>
        </p:nvSpPr>
        <p:spPr>
          <a:xfrm>
            <a:off x="1411221" y="3561895"/>
            <a:ext cx="4848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用户投诉某产品有质量问题，要求退货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07333475-6333-4D4C-8506-EFA8F81FC0CC}"/>
              </a:ext>
            </a:extLst>
          </p:cNvPr>
          <p:cNvSpPr txBox="1"/>
          <p:nvPr/>
        </p:nvSpPr>
        <p:spPr>
          <a:xfrm>
            <a:off x="1411221" y="4022965"/>
            <a:ext cx="545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针对滞销库存，制定销售政策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61D81BDA-53D5-4A9C-A385-A69C11D93E04}"/>
              </a:ext>
            </a:extLst>
          </p:cNvPr>
          <p:cNvSpPr txBox="1"/>
          <p:nvPr/>
        </p:nvSpPr>
        <p:spPr>
          <a:xfrm>
            <a:off x="1411221" y="4945105"/>
            <a:ext cx="4618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厂家物流按照预约日期准时到货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3EB465BA-9212-4C80-BD26-17B393A49806}"/>
              </a:ext>
            </a:extLst>
          </p:cNvPr>
          <p:cNvSpPr txBox="1"/>
          <p:nvPr/>
        </p:nvSpPr>
        <p:spPr>
          <a:xfrm>
            <a:off x="8589606" y="448403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出库配送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3CA30853-12CA-4011-BFE0-122757BB57DC}"/>
              </a:ext>
            </a:extLst>
          </p:cNvPr>
          <p:cNvSpPr txBox="1"/>
          <p:nvPr/>
        </p:nvSpPr>
        <p:spPr>
          <a:xfrm>
            <a:off x="8010871" y="2620990"/>
            <a:ext cx="2125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销售预测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A2FBCB0-55DD-4566-891F-D011AB46843C}"/>
              </a:ext>
            </a:extLst>
          </p:cNvPr>
          <p:cNvSpPr txBox="1"/>
          <p:nvPr/>
        </p:nvSpPr>
        <p:spPr>
          <a:xfrm>
            <a:off x="8589608" y="309473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下单生产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13">
            <a:extLst>
              <a:ext uri="{FF2B5EF4-FFF2-40B4-BE49-F238E27FC236}">
                <a16:creationId xmlns:a16="http://schemas.microsoft.com/office/drawing/2014/main" id="{235249A1-F360-4037-B62B-0B42F3A2ABC0}"/>
              </a:ext>
            </a:extLst>
          </p:cNvPr>
          <p:cNvSpPr txBox="1"/>
          <p:nvPr/>
        </p:nvSpPr>
        <p:spPr>
          <a:xfrm>
            <a:off x="8166311" y="3561895"/>
            <a:ext cx="18519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履约入库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F0059E7D-FE28-4DC2-A9FD-F5A12FF1F95B}"/>
              </a:ext>
            </a:extLst>
          </p:cNvPr>
          <p:cNvSpPr txBox="1"/>
          <p:nvPr/>
        </p:nvSpPr>
        <p:spPr>
          <a:xfrm>
            <a:off x="7915358" y="4022965"/>
            <a:ext cx="2316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库存管理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D7DD2FD4-04B5-4A38-A66E-2B19BFD0AFB5}"/>
              </a:ext>
            </a:extLst>
          </p:cNvPr>
          <p:cNvSpPr txBox="1"/>
          <p:nvPr/>
        </p:nvSpPr>
        <p:spPr>
          <a:xfrm>
            <a:off x="8103719" y="4959898"/>
            <a:ext cx="1977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售后服务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1FD5047-7F4E-4AFD-B4EC-14D26A741DCD}"/>
              </a:ext>
            </a:extLst>
          </p:cNvPr>
          <p:cNvCxnSpPr/>
          <p:nvPr/>
        </p:nvCxnSpPr>
        <p:spPr>
          <a:xfrm>
            <a:off x="5225086" y="2790267"/>
            <a:ext cx="3255974" cy="17588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8E79BF1-4058-4808-8872-2920DA95CCF2}"/>
              </a:ext>
            </a:extLst>
          </p:cNvPr>
          <p:cNvCxnSpPr>
            <a:stCxn id="33" idx="3"/>
            <a:endCxn id="38" idx="1"/>
          </p:cNvCxnSpPr>
          <p:nvPr/>
        </p:nvCxnSpPr>
        <p:spPr>
          <a:xfrm flipV="1">
            <a:off x="5225086" y="2790267"/>
            <a:ext cx="2785785" cy="4737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33A1CF5-355C-44A4-8E73-56B3ADA4B8DD}"/>
              </a:ext>
            </a:extLst>
          </p:cNvPr>
          <p:cNvCxnSpPr>
            <a:endCxn id="42" idx="1"/>
          </p:cNvCxnSpPr>
          <p:nvPr/>
        </p:nvCxnSpPr>
        <p:spPr>
          <a:xfrm>
            <a:off x="5459767" y="3657600"/>
            <a:ext cx="2643952" cy="14715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0EA16EE-43B7-4B83-B9A4-249A7AE4A907}"/>
              </a:ext>
            </a:extLst>
          </p:cNvPr>
          <p:cNvCxnSpPr>
            <a:cxnSpLocks/>
          </p:cNvCxnSpPr>
          <p:nvPr/>
        </p:nvCxnSpPr>
        <p:spPr>
          <a:xfrm>
            <a:off x="5225086" y="4216893"/>
            <a:ext cx="3034994" cy="78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B7D2D55-7B38-48D6-9A3B-238F5D7D1DC9}"/>
              </a:ext>
            </a:extLst>
          </p:cNvPr>
          <p:cNvCxnSpPr>
            <a:stCxn id="31" idx="3"/>
            <a:endCxn id="39" idx="1"/>
          </p:cNvCxnSpPr>
          <p:nvPr/>
        </p:nvCxnSpPr>
        <p:spPr>
          <a:xfrm flipV="1">
            <a:off x="5635454" y="3264007"/>
            <a:ext cx="2954154" cy="13893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F22D759-383A-4B92-88A9-74587BCEBA09}"/>
              </a:ext>
            </a:extLst>
          </p:cNvPr>
          <p:cNvCxnSpPr>
            <a:endCxn id="40" idx="1"/>
          </p:cNvCxnSpPr>
          <p:nvPr/>
        </p:nvCxnSpPr>
        <p:spPr>
          <a:xfrm flipV="1">
            <a:off x="5370990" y="3731172"/>
            <a:ext cx="2795321" cy="13291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73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217" y="5459217"/>
            <a:ext cx="1398784" cy="1398784"/>
          </a:xfrm>
          <a:prstGeom prst="rect">
            <a:avLst/>
          </a:prstGeom>
        </p:spPr>
      </p:pic>
      <p:sp>
        <p:nvSpPr>
          <p:cNvPr id="21" name="标题 1"/>
          <p:cNvSpPr txBox="1">
            <a:spLocks/>
          </p:cNvSpPr>
          <p:nvPr/>
        </p:nvSpPr>
        <p:spPr bwMode="gray">
          <a:xfrm>
            <a:off x="462812" y="344414"/>
            <a:ext cx="10390716" cy="535509"/>
          </a:xfrm>
          <a:prstGeom prst="rect">
            <a:avLst/>
          </a:prstGeom>
        </p:spPr>
        <p:txBody>
          <a:bodyPr vert="horz" lIns="91418" tIns="45709" rIns="91418" bIns="45709" rtlCol="0" anchor="ctr" anchorCtr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defTabSz="666750">
              <a:lnSpc>
                <a:spcPct val="90000"/>
              </a:lnSpc>
              <a:spcAft>
                <a:spcPct val="35000"/>
              </a:spcAft>
            </a:pPr>
            <a:r>
              <a:rPr lang="zh-CN" altLang="en-US" sz="3200" dirty="0" smtClean="0">
                <a:solidFill>
                  <a:srgbClr val="C00000"/>
                </a:solidFill>
                <a:cs typeface="+mn-ea"/>
                <a:sym typeface="+mn-lt"/>
              </a:rPr>
              <a:t>练习</a:t>
            </a:r>
            <a:r>
              <a:rPr lang="en-US" altLang="zh-CN" sz="3200" dirty="0" smtClean="0">
                <a:solidFill>
                  <a:srgbClr val="C00000"/>
                </a:solidFill>
                <a:cs typeface="+mn-ea"/>
                <a:sym typeface="+mn-lt"/>
              </a:rPr>
              <a:t>2</a:t>
            </a:r>
            <a:endParaRPr lang="zh-CN" altLang="en-US" sz="3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7163491" y="2740326"/>
            <a:ext cx="1539470" cy="570376"/>
          </a:xfrm>
          <a:custGeom>
            <a:avLst/>
            <a:gdLst>
              <a:gd name="connsiteX0" fmla="*/ 0 w 1447673"/>
              <a:gd name="connsiteY0" fmla="*/ 0 h 527409"/>
              <a:gd name="connsiteX1" fmla="*/ 1183969 w 1447673"/>
              <a:gd name="connsiteY1" fmla="*/ 0 h 527409"/>
              <a:gd name="connsiteX2" fmla="*/ 1447673 w 1447673"/>
              <a:gd name="connsiteY2" fmla="*/ 263705 h 527409"/>
              <a:gd name="connsiteX3" fmla="*/ 1183969 w 1447673"/>
              <a:gd name="connsiteY3" fmla="*/ 527409 h 527409"/>
              <a:gd name="connsiteX4" fmla="*/ 0 w 1447673"/>
              <a:gd name="connsiteY4" fmla="*/ 527409 h 527409"/>
              <a:gd name="connsiteX5" fmla="*/ 263705 w 1447673"/>
              <a:gd name="connsiteY5" fmla="*/ 263705 h 527409"/>
              <a:gd name="connsiteX6" fmla="*/ 0 w 1447673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673" h="527409">
                <a:moveTo>
                  <a:pt x="0" y="0"/>
                </a:moveTo>
                <a:lnTo>
                  <a:pt x="1183969" y="0"/>
                </a:lnTo>
                <a:lnTo>
                  <a:pt x="1447673" y="263705"/>
                </a:lnTo>
                <a:lnTo>
                  <a:pt x="1183969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销售预测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9386601" y="1930447"/>
            <a:ext cx="1590046" cy="570376"/>
          </a:xfrm>
          <a:custGeom>
            <a:avLst/>
            <a:gdLst>
              <a:gd name="connsiteX0" fmla="*/ 0 w 1495233"/>
              <a:gd name="connsiteY0" fmla="*/ 0 h 527409"/>
              <a:gd name="connsiteX1" fmla="*/ 1231529 w 1495233"/>
              <a:gd name="connsiteY1" fmla="*/ 0 h 527409"/>
              <a:gd name="connsiteX2" fmla="*/ 1495233 w 1495233"/>
              <a:gd name="connsiteY2" fmla="*/ 263705 h 527409"/>
              <a:gd name="connsiteX3" fmla="*/ 1231529 w 1495233"/>
              <a:gd name="connsiteY3" fmla="*/ 527409 h 527409"/>
              <a:gd name="connsiteX4" fmla="*/ 0 w 1495233"/>
              <a:gd name="connsiteY4" fmla="*/ 527409 h 527409"/>
              <a:gd name="connsiteX5" fmla="*/ 263705 w 1495233"/>
              <a:gd name="connsiteY5" fmla="*/ 263705 h 527409"/>
              <a:gd name="connsiteX6" fmla="*/ 0 w 1495233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5233" h="527409">
                <a:moveTo>
                  <a:pt x="0" y="0"/>
                </a:moveTo>
                <a:lnTo>
                  <a:pt x="1231529" y="0"/>
                </a:lnTo>
                <a:lnTo>
                  <a:pt x="1495233" y="263705"/>
                </a:lnTo>
                <a:lnTo>
                  <a:pt x="1231529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需求计划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1054881" y="2776534"/>
            <a:ext cx="1442890" cy="570376"/>
          </a:xfrm>
          <a:custGeom>
            <a:avLst/>
            <a:gdLst>
              <a:gd name="connsiteX0" fmla="*/ 0 w 1318524"/>
              <a:gd name="connsiteY0" fmla="*/ 0 h 527409"/>
              <a:gd name="connsiteX1" fmla="*/ 1054820 w 1318524"/>
              <a:gd name="connsiteY1" fmla="*/ 0 h 527409"/>
              <a:gd name="connsiteX2" fmla="*/ 1318524 w 1318524"/>
              <a:gd name="connsiteY2" fmla="*/ 263705 h 527409"/>
              <a:gd name="connsiteX3" fmla="*/ 1054820 w 1318524"/>
              <a:gd name="connsiteY3" fmla="*/ 527409 h 527409"/>
              <a:gd name="connsiteX4" fmla="*/ 0 w 1318524"/>
              <a:gd name="connsiteY4" fmla="*/ 527409 h 527409"/>
              <a:gd name="connsiteX5" fmla="*/ 263705 w 1318524"/>
              <a:gd name="connsiteY5" fmla="*/ 263705 h 527409"/>
              <a:gd name="connsiteX6" fmla="*/ 0 w 1318524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8524" h="527409">
                <a:moveTo>
                  <a:pt x="0" y="0"/>
                </a:moveTo>
                <a:lnTo>
                  <a:pt x="1054820" y="0"/>
                </a:lnTo>
                <a:lnTo>
                  <a:pt x="1318524" y="263705"/>
                </a:lnTo>
                <a:lnTo>
                  <a:pt x="1054820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下单生产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7184504" y="1906785"/>
            <a:ext cx="1518457" cy="59403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履约入库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912338" y="2704952"/>
            <a:ext cx="1518457" cy="617696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库存管理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797331" y="1883127"/>
            <a:ext cx="1518457" cy="617696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产品</a:t>
            </a: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4912339" y="1883127"/>
            <a:ext cx="1518457" cy="617696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出库配送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923278" y="1864311"/>
            <a:ext cx="1518457" cy="617696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售后服务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2797331" y="2772970"/>
            <a:ext cx="1518457" cy="617696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逆向物流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68228" y="3568823"/>
            <a:ext cx="3392121" cy="270918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522977" y="3568823"/>
            <a:ext cx="3392121" cy="2709182"/>
          </a:xfrm>
          <a:prstGeom prst="round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381619" y="3568823"/>
            <a:ext cx="3392121" cy="2709182"/>
          </a:xfrm>
          <a:prstGeom prst="round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68229" y="973182"/>
            <a:ext cx="1057127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排序题：请将下面的流程填入正确的框中。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594818" y="3721853"/>
            <a:ext cx="1473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采购入库前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516271" y="3706033"/>
            <a:ext cx="1667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采购入库后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594914" y="3706033"/>
            <a:ext cx="1212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销售出库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任意多边形 67"/>
          <p:cNvSpPr/>
          <p:nvPr/>
        </p:nvSpPr>
        <p:spPr>
          <a:xfrm>
            <a:off x="1001538" y="4224521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998462" y="5188616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0" name="任意多边形 69"/>
          <p:cNvSpPr/>
          <p:nvPr/>
        </p:nvSpPr>
        <p:spPr>
          <a:xfrm>
            <a:off x="2434548" y="4224521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2431472" y="5188616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2" name="任意多边形 71"/>
          <p:cNvSpPr/>
          <p:nvPr/>
        </p:nvSpPr>
        <p:spPr>
          <a:xfrm>
            <a:off x="8663834" y="4258897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8660758" y="5222992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4" name="任意多边形 73"/>
          <p:cNvSpPr/>
          <p:nvPr/>
        </p:nvSpPr>
        <p:spPr>
          <a:xfrm>
            <a:off x="5490757" y="4258897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5487681" y="5222992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10277507" y="4252310"/>
            <a:ext cx="1496234" cy="576345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672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529" y="5519529"/>
            <a:ext cx="1338471" cy="1338471"/>
          </a:xfrm>
          <a:prstGeom prst="rect">
            <a:avLst/>
          </a:prstGeom>
        </p:spPr>
      </p:pic>
      <p:sp>
        <p:nvSpPr>
          <p:cNvPr id="21" name="标题 1"/>
          <p:cNvSpPr txBox="1">
            <a:spLocks/>
          </p:cNvSpPr>
          <p:nvPr/>
        </p:nvSpPr>
        <p:spPr bwMode="gray">
          <a:xfrm>
            <a:off x="462812" y="344414"/>
            <a:ext cx="10390716" cy="535509"/>
          </a:xfrm>
          <a:prstGeom prst="rect">
            <a:avLst/>
          </a:prstGeom>
        </p:spPr>
        <p:txBody>
          <a:bodyPr vert="horz" lIns="91418" tIns="45709" rIns="91418" bIns="45709" rtlCol="0" anchor="ctr" anchorCtr="0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defTabSz="666750">
              <a:lnSpc>
                <a:spcPct val="90000"/>
              </a:lnSpc>
              <a:spcAft>
                <a:spcPct val="35000"/>
              </a:spcAft>
            </a:pPr>
            <a:r>
              <a:rPr lang="zh-CN" altLang="en-US" sz="3200" dirty="0">
                <a:solidFill>
                  <a:srgbClr val="C00000"/>
                </a:solidFill>
                <a:cs typeface="+mn-ea"/>
                <a:sym typeface="+mn-lt"/>
              </a:rPr>
              <a:t>练习</a:t>
            </a:r>
            <a:r>
              <a:rPr lang="en-US" altLang="zh-CN" sz="3200" dirty="0">
                <a:solidFill>
                  <a:srgbClr val="C00000"/>
                </a:solidFill>
                <a:cs typeface="+mn-ea"/>
                <a:sym typeface="+mn-lt"/>
              </a:rPr>
              <a:t>2</a:t>
            </a:r>
            <a:endParaRPr lang="zh-CN" altLang="en-US" sz="32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7181493" y="2781314"/>
            <a:ext cx="1521468" cy="529387"/>
          </a:xfrm>
          <a:custGeom>
            <a:avLst/>
            <a:gdLst>
              <a:gd name="connsiteX0" fmla="*/ 0 w 1447673"/>
              <a:gd name="connsiteY0" fmla="*/ 0 h 527409"/>
              <a:gd name="connsiteX1" fmla="*/ 1183969 w 1447673"/>
              <a:gd name="connsiteY1" fmla="*/ 0 h 527409"/>
              <a:gd name="connsiteX2" fmla="*/ 1447673 w 1447673"/>
              <a:gd name="connsiteY2" fmla="*/ 263705 h 527409"/>
              <a:gd name="connsiteX3" fmla="*/ 1183969 w 1447673"/>
              <a:gd name="connsiteY3" fmla="*/ 527409 h 527409"/>
              <a:gd name="connsiteX4" fmla="*/ 0 w 1447673"/>
              <a:gd name="connsiteY4" fmla="*/ 527409 h 527409"/>
              <a:gd name="connsiteX5" fmla="*/ 263705 w 1447673"/>
              <a:gd name="connsiteY5" fmla="*/ 263705 h 527409"/>
              <a:gd name="connsiteX6" fmla="*/ 0 w 1447673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673" h="527409">
                <a:moveTo>
                  <a:pt x="0" y="0"/>
                </a:moveTo>
                <a:lnTo>
                  <a:pt x="1183969" y="0"/>
                </a:lnTo>
                <a:lnTo>
                  <a:pt x="1447673" y="263705"/>
                </a:lnTo>
                <a:lnTo>
                  <a:pt x="1183969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销售预测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9405193" y="1971435"/>
            <a:ext cx="1571453" cy="529387"/>
          </a:xfrm>
          <a:custGeom>
            <a:avLst/>
            <a:gdLst>
              <a:gd name="connsiteX0" fmla="*/ 0 w 1495233"/>
              <a:gd name="connsiteY0" fmla="*/ 0 h 527409"/>
              <a:gd name="connsiteX1" fmla="*/ 1231529 w 1495233"/>
              <a:gd name="connsiteY1" fmla="*/ 0 h 527409"/>
              <a:gd name="connsiteX2" fmla="*/ 1495233 w 1495233"/>
              <a:gd name="connsiteY2" fmla="*/ 263705 h 527409"/>
              <a:gd name="connsiteX3" fmla="*/ 1231529 w 1495233"/>
              <a:gd name="connsiteY3" fmla="*/ 527409 h 527409"/>
              <a:gd name="connsiteX4" fmla="*/ 0 w 1495233"/>
              <a:gd name="connsiteY4" fmla="*/ 527409 h 527409"/>
              <a:gd name="connsiteX5" fmla="*/ 263705 w 1495233"/>
              <a:gd name="connsiteY5" fmla="*/ 263705 h 527409"/>
              <a:gd name="connsiteX6" fmla="*/ 0 w 1495233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5233" h="527409">
                <a:moveTo>
                  <a:pt x="0" y="0"/>
                </a:moveTo>
                <a:lnTo>
                  <a:pt x="1231529" y="0"/>
                </a:lnTo>
                <a:lnTo>
                  <a:pt x="1495233" y="263705"/>
                </a:lnTo>
                <a:lnTo>
                  <a:pt x="1231529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需求计划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1071753" y="2817522"/>
            <a:ext cx="1426018" cy="529387"/>
          </a:xfrm>
          <a:custGeom>
            <a:avLst/>
            <a:gdLst>
              <a:gd name="connsiteX0" fmla="*/ 0 w 1318524"/>
              <a:gd name="connsiteY0" fmla="*/ 0 h 527409"/>
              <a:gd name="connsiteX1" fmla="*/ 1054820 w 1318524"/>
              <a:gd name="connsiteY1" fmla="*/ 0 h 527409"/>
              <a:gd name="connsiteX2" fmla="*/ 1318524 w 1318524"/>
              <a:gd name="connsiteY2" fmla="*/ 263705 h 527409"/>
              <a:gd name="connsiteX3" fmla="*/ 1054820 w 1318524"/>
              <a:gd name="connsiteY3" fmla="*/ 527409 h 527409"/>
              <a:gd name="connsiteX4" fmla="*/ 0 w 1318524"/>
              <a:gd name="connsiteY4" fmla="*/ 527409 h 527409"/>
              <a:gd name="connsiteX5" fmla="*/ 263705 w 1318524"/>
              <a:gd name="connsiteY5" fmla="*/ 263705 h 527409"/>
              <a:gd name="connsiteX6" fmla="*/ 0 w 1318524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8524" h="527409">
                <a:moveTo>
                  <a:pt x="0" y="0"/>
                </a:moveTo>
                <a:lnTo>
                  <a:pt x="1054820" y="0"/>
                </a:lnTo>
                <a:lnTo>
                  <a:pt x="1318524" y="263705"/>
                </a:lnTo>
                <a:lnTo>
                  <a:pt x="1054820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下单生产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7202259" y="1949474"/>
            <a:ext cx="1500701" cy="551348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履约入库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930093" y="2749340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库存管理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815086" y="1927515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产品</a:t>
            </a: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4930094" y="1927515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出库配送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941033" y="1908699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售后服务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2815086" y="2817358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逆向物流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58100" y="3583102"/>
            <a:ext cx="3402249" cy="2694903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512849" y="3583102"/>
            <a:ext cx="3402249" cy="2694903"/>
          </a:xfrm>
          <a:prstGeom prst="round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371491" y="3583102"/>
            <a:ext cx="3402249" cy="2694903"/>
          </a:xfrm>
          <a:prstGeom prst="round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68229" y="973182"/>
            <a:ext cx="1057127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正确答案：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590418" y="3725500"/>
            <a:ext cx="1478212" cy="339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采购入库前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511292" y="3709680"/>
            <a:ext cx="1672591" cy="339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采购入库后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591293" y="3709680"/>
            <a:ext cx="1216470" cy="339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销售出库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1021714" y="4298640"/>
            <a:ext cx="1521468" cy="529387"/>
          </a:xfrm>
          <a:custGeom>
            <a:avLst/>
            <a:gdLst>
              <a:gd name="connsiteX0" fmla="*/ 0 w 1447673"/>
              <a:gd name="connsiteY0" fmla="*/ 0 h 527409"/>
              <a:gd name="connsiteX1" fmla="*/ 1183969 w 1447673"/>
              <a:gd name="connsiteY1" fmla="*/ 0 h 527409"/>
              <a:gd name="connsiteX2" fmla="*/ 1447673 w 1447673"/>
              <a:gd name="connsiteY2" fmla="*/ 263705 h 527409"/>
              <a:gd name="connsiteX3" fmla="*/ 1183969 w 1447673"/>
              <a:gd name="connsiteY3" fmla="*/ 527409 h 527409"/>
              <a:gd name="connsiteX4" fmla="*/ 0 w 1447673"/>
              <a:gd name="connsiteY4" fmla="*/ 527409 h 527409"/>
              <a:gd name="connsiteX5" fmla="*/ 263705 w 1447673"/>
              <a:gd name="connsiteY5" fmla="*/ 263705 h 527409"/>
              <a:gd name="connsiteX6" fmla="*/ 0 w 1447673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673" h="527409">
                <a:moveTo>
                  <a:pt x="0" y="0"/>
                </a:moveTo>
                <a:lnTo>
                  <a:pt x="1183969" y="0"/>
                </a:lnTo>
                <a:lnTo>
                  <a:pt x="1447673" y="263705"/>
                </a:lnTo>
                <a:lnTo>
                  <a:pt x="1183969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销售预测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2421551" y="4274162"/>
            <a:ext cx="1571453" cy="529387"/>
          </a:xfrm>
          <a:custGeom>
            <a:avLst/>
            <a:gdLst>
              <a:gd name="connsiteX0" fmla="*/ 0 w 1495233"/>
              <a:gd name="connsiteY0" fmla="*/ 0 h 527409"/>
              <a:gd name="connsiteX1" fmla="*/ 1231529 w 1495233"/>
              <a:gd name="connsiteY1" fmla="*/ 0 h 527409"/>
              <a:gd name="connsiteX2" fmla="*/ 1495233 w 1495233"/>
              <a:gd name="connsiteY2" fmla="*/ 263705 h 527409"/>
              <a:gd name="connsiteX3" fmla="*/ 1231529 w 1495233"/>
              <a:gd name="connsiteY3" fmla="*/ 527409 h 527409"/>
              <a:gd name="connsiteX4" fmla="*/ 0 w 1495233"/>
              <a:gd name="connsiteY4" fmla="*/ 527409 h 527409"/>
              <a:gd name="connsiteX5" fmla="*/ 263705 w 1495233"/>
              <a:gd name="connsiteY5" fmla="*/ 263705 h 527409"/>
              <a:gd name="connsiteX6" fmla="*/ 0 w 1495233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5233" h="527409">
                <a:moveTo>
                  <a:pt x="0" y="0"/>
                </a:moveTo>
                <a:lnTo>
                  <a:pt x="1231529" y="0"/>
                </a:lnTo>
                <a:lnTo>
                  <a:pt x="1495233" y="263705"/>
                </a:lnTo>
                <a:lnTo>
                  <a:pt x="1231529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需求计划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1071752" y="5143329"/>
            <a:ext cx="1426018" cy="529387"/>
          </a:xfrm>
          <a:custGeom>
            <a:avLst/>
            <a:gdLst>
              <a:gd name="connsiteX0" fmla="*/ 0 w 1318524"/>
              <a:gd name="connsiteY0" fmla="*/ 0 h 527409"/>
              <a:gd name="connsiteX1" fmla="*/ 1054820 w 1318524"/>
              <a:gd name="connsiteY1" fmla="*/ 0 h 527409"/>
              <a:gd name="connsiteX2" fmla="*/ 1318524 w 1318524"/>
              <a:gd name="connsiteY2" fmla="*/ 263705 h 527409"/>
              <a:gd name="connsiteX3" fmla="*/ 1054820 w 1318524"/>
              <a:gd name="connsiteY3" fmla="*/ 527409 h 527409"/>
              <a:gd name="connsiteX4" fmla="*/ 0 w 1318524"/>
              <a:gd name="connsiteY4" fmla="*/ 527409 h 527409"/>
              <a:gd name="connsiteX5" fmla="*/ 263705 w 1318524"/>
              <a:gd name="connsiteY5" fmla="*/ 263705 h 527409"/>
              <a:gd name="connsiteX6" fmla="*/ 0 w 1318524"/>
              <a:gd name="connsiteY6" fmla="*/ 0 h 52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8524" h="527409">
                <a:moveTo>
                  <a:pt x="0" y="0"/>
                </a:moveTo>
                <a:lnTo>
                  <a:pt x="1054820" y="0"/>
                </a:lnTo>
                <a:lnTo>
                  <a:pt x="1318524" y="263705"/>
                </a:lnTo>
                <a:lnTo>
                  <a:pt x="1054820" y="527409"/>
                </a:lnTo>
                <a:lnTo>
                  <a:pt x="0" y="527409"/>
                </a:lnTo>
                <a:lnTo>
                  <a:pt x="263705" y="263705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713" tIns="20003" rIns="283707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下单生产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2492315" y="5121368"/>
            <a:ext cx="1500701" cy="551348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履约入库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5509737" y="4254720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库存管理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5566592" y="5108355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产品</a:t>
            </a: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销售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8746968" y="4273998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出库配送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10189901" y="4273998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售后服务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8863550" y="5143165"/>
            <a:ext cx="1500701" cy="573307"/>
          </a:xfrm>
          <a:custGeom>
            <a:avLst/>
            <a:gdLst>
              <a:gd name="connsiteX0" fmla="*/ 0 w 1427913"/>
              <a:gd name="connsiteY0" fmla="*/ 0 h 571165"/>
              <a:gd name="connsiteX1" fmla="*/ 1142331 w 1427913"/>
              <a:gd name="connsiteY1" fmla="*/ 0 h 571165"/>
              <a:gd name="connsiteX2" fmla="*/ 1427913 w 1427913"/>
              <a:gd name="connsiteY2" fmla="*/ 285583 h 571165"/>
              <a:gd name="connsiteX3" fmla="*/ 1142331 w 1427913"/>
              <a:gd name="connsiteY3" fmla="*/ 571165 h 571165"/>
              <a:gd name="connsiteX4" fmla="*/ 0 w 1427913"/>
              <a:gd name="connsiteY4" fmla="*/ 571165 h 571165"/>
              <a:gd name="connsiteX5" fmla="*/ 285583 w 1427913"/>
              <a:gd name="connsiteY5" fmla="*/ 285583 h 571165"/>
              <a:gd name="connsiteX6" fmla="*/ 0 w 1427913"/>
              <a:gd name="connsiteY6" fmla="*/ 0 h 57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7913" h="571165">
                <a:moveTo>
                  <a:pt x="0" y="0"/>
                </a:moveTo>
                <a:lnTo>
                  <a:pt x="1142331" y="0"/>
                </a:lnTo>
                <a:lnTo>
                  <a:pt x="1427913" y="285583"/>
                </a:lnTo>
                <a:lnTo>
                  <a:pt x="1142331" y="571165"/>
                </a:lnTo>
                <a:lnTo>
                  <a:pt x="0" y="571165"/>
                </a:lnTo>
                <a:lnTo>
                  <a:pt x="285583" y="2855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49591" tIns="21336" rIns="306918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逆向物流</a:t>
            </a:r>
            <a:endPara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70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3" grpId="0" animBg="1"/>
      <p:bldP spid="7" grpId="0" animBg="1"/>
      <p:bldP spid="8" grpId="0" animBg="1"/>
      <p:bldP spid="18" grpId="0" animBg="1"/>
      <p:bldP spid="20" grpId="0" animBg="1"/>
      <p:bldP spid="23" grpId="0" animBg="1"/>
      <p:bldP spid="37" grpId="0" animBg="1"/>
      <p:bldP spid="41" grpId="0" animBg="1"/>
      <p:bldP spid="42" grpId="0" animBg="1"/>
      <p:bldP spid="43" grpId="0" animBg="1"/>
      <p:bldP spid="44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384</Words>
  <Application>Microsoft Office PowerPoint</Application>
  <PresentationFormat>宽屏</PresentationFormat>
  <Paragraphs>96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Wingdings</vt:lpstr>
      <vt:lpstr>Wingdings 2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helixia1</dc:creator>
  <cp:lastModifiedBy>马智聪</cp:lastModifiedBy>
  <cp:revision>26</cp:revision>
  <dcterms:created xsi:type="dcterms:W3CDTF">2021-12-15T02:18:15Z</dcterms:created>
  <dcterms:modified xsi:type="dcterms:W3CDTF">2021-12-21T08:12:45Z</dcterms:modified>
</cp:coreProperties>
</file>